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</p:sldIdLst>
  <p:sldSz cx="18288000" cy="10287000"/>
  <p:notesSz cx="6858000" cy="9144000"/>
  <p:embeddedFontLst>
    <p:embeddedFont>
      <p:font typeface="Glacial Indifference Bold" charset="1" panose="00000800000000000000"/>
      <p:regular r:id="rId18"/>
    </p:embeddedFont>
    <p:embeddedFont>
      <p:font typeface="Glacial Indifference" charset="1" panose="00000000000000000000"/>
      <p:regular r:id="rId19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fonts/font18.fntdata" Type="http://schemas.openxmlformats.org/officeDocument/2006/relationships/font"/><Relationship Id="rId19" Target="fonts/font19.fntdata" Type="http://schemas.openxmlformats.org/officeDocument/2006/relationships/font"/><Relationship Id="rId2" Target="presProps.xml" Type="http://schemas.openxmlformats.org/officeDocument/2006/relationships/presProps"/><Relationship Id="rId3" Target="viewProps.xml" Type="http://schemas.openxmlformats.org/officeDocument/2006/relationships/viewProps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Relationship Id="rId4" Target="../media/image4.pn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5.pn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6.png" Type="http://schemas.openxmlformats.org/officeDocument/2006/relationships/image"/><Relationship Id="rId3" Target="../media/image7.png" Type="http://schemas.openxmlformats.org/officeDocument/2006/relationships/image"/><Relationship Id="rId4" Target="../media/image8.pn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9.png" Type="http://schemas.openxmlformats.org/officeDocument/2006/relationships/image"/><Relationship Id="rId3" Target="../media/image10.png" Type="http://schemas.openxmlformats.org/officeDocument/2006/relationships/image"/><Relationship Id="rId4" Target="../media/image11.pn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2.png" Type="http://schemas.openxmlformats.org/officeDocument/2006/relationships/image"/><Relationship Id="rId3" Target="../media/image13.png" Type="http://schemas.openxmlformats.org/officeDocument/2006/relationships/image"/><Relationship Id="rId4" Target="../media/image14.pn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5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6.png" Type="http://schemas.openxmlformats.org/officeDocument/2006/relationships/image"/><Relationship Id="rId3" Target="../media/image17.sv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8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2.png" Type="http://schemas.openxmlformats.org/officeDocument/2006/relationships/image"/><Relationship Id="rId3" Target="../media/image3.sv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986" r="0" b="-645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414520"/>
            <a:ext cx="8115300" cy="114235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8599"/>
              </a:lnSpc>
            </a:pPr>
            <a:r>
              <a:rPr lang="en-US" sz="8599" b="true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SPIRIT KEEPER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3535375"/>
            <a:ext cx="8115300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TP 3  - Taller de Videojuegos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6384595"/>
            <a:ext cx="10316897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Micaela Córdoba · Franco Hereñú · Tomás Moreno  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-905767" y="7671598"/>
            <a:ext cx="5574072" cy="4950422"/>
          </a:xfrm>
          <a:custGeom>
            <a:avLst/>
            <a:gdLst/>
            <a:ahLst/>
            <a:cxnLst/>
            <a:rect r="r" b="b" t="t" l="l"/>
            <a:pathLst>
              <a:path h="4950422" w="5574072">
                <a:moveTo>
                  <a:pt x="0" y="0"/>
                </a:moveTo>
                <a:lnTo>
                  <a:pt x="5574072" y="0"/>
                </a:lnTo>
                <a:lnTo>
                  <a:pt x="5574072" y="4950422"/>
                </a:lnTo>
                <a:lnTo>
                  <a:pt x="0" y="495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13486432" y="7671598"/>
            <a:ext cx="5574072" cy="4950422"/>
          </a:xfrm>
          <a:custGeom>
            <a:avLst/>
            <a:gdLst/>
            <a:ahLst/>
            <a:cxnLst/>
            <a:rect r="r" b="b" t="t" l="l"/>
            <a:pathLst>
              <a:path h="4950422" w="5574072">
                <a:moveTo>
                  <a:pt x="0" y="0"/>
                </a:moveTo>
                <a:lnTo>
                  <a:pt x="5574072" y="0"/>
                </a:lnTo>
                <a:lnTo>
                  <a:pt x="5574072" y="4950422"/>
                </a:lnTo>
                <a:lnTo>
                  <a:pt x="0" y="495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4" id="4"/>
          <p:cNvSpPr/>
          <p:nvPr/>
        </p:nvSpPr>
        <p:spPr>
          <a:xfrm flipH="false" flipV="false" rot="0">
            <a:off x="3742238" y="7671598"/>
            <a:ext cx="5574072" cy="4950422"/>
          </a:xfrm>
          <a:custGeom>
            <a:avLst/>
            <a:gdLst/>
            <a:ahLst/>
            <a:cxnLst/>
            <a:rect r="r" b="b" t="t" l="l"/>
            <a:pathLst>
              <a:path h="4950422" w="5574072">
                <a:moveTo>
                  <a:pt x="0" y="0"/>
                </a:moveTo>
                <a:lnTo>
                  <a:pt x="5574072" y="0"/>
                </a:lnTo>
                <a:lnTo>
                  <a:pt x="5574072" y="4950422"/>
                </a:lnTo>
                <a:lnTo>
                  <a:pt x="0" y="495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5" id="5"/>
          <p:cNvSpPr/>
          <p:nvPr/>
        </p:nvSpPr>
        <p:spPr>
          <a:xfrm flipH="false" flipV="false" rot="0">
            <a:off x="8839104" y="7671598"/>
            <a:ext cx="5574072" cy="4950422"/>
          </a:xfrm>
          <a:custGeom>
            <a:avLst/>
            <a:gdLst/>
            <a:ahLst/>
            <a:cxnLst/>
            <a:rect r="r" b="b" t="t" l="l"/>
            <a:pathLst>
              <a:path h="4950422" w="5574072">
                <a:moveTo>
                  <a:pt x="0" y="0"/>
                </a:moveTo>
                <a:lnTo>
                  <a:pt x="5574071" y="0"/>
                </a:lnTo>
                <a:lnTo>
                  <a:pt x="5574071" y="4950422"/>
                </a:lnTo>
                <a:lnTo>
                  <a:pt x="0" y="495042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6" id="6"/>
          <p:cNvSpPr/>
          <p:nvPr/>
        </p:nvSpPr>
        <p:spPr>
          <a:xfrm flipH="false" flipV="false" rot="0">
            <a:off x="-2472116" y="-2468400"/>
            <a:ext cx="10314891" cy="5750552"/>
          </a:xfrm>
          <a:custGeom>
            <a:avLst/>
            <a:gdLst/>
            <a:ahLst/>
            <a:cxnLst/>
            <a:rect r="r" b="b" t="t" l="l"/>
            <a:pathLst>
              <a:path h="5750552" w="10314891">
                <a:moveTo>
                  <a:pt x="0" y="0"/>
                </a:moveTo>
                <a:lnTo>
                  <a:pt x="10314892" y="0"/>
                </a:lnTo>
                <a:lnTo>
                  <a:pt x="10314892" y="5750552"/>
                </a:lnTo>
                <a:lnTo>
                  <a:pt x="0" y="5750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85389" y="4047173"/>
            <a:ext cx="16317221" cy="2278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4799"/>
              </a:lnSpc>
            </a:pPr>
            <a:r>
              <a:rPr lang="en-US" b="true" sz="4799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“UN</a:t>
            </a:r>
            <a:r>
              <a:rPr lang="en-US" b="true" sz="4799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PADRE SE ENFRENTA A UNA SECTA PARA RESCATAR A SU HIJO DE UN SACRIFICIO, CON LA AYUDA DE LOS ESPÍRITUS DEL BOSQUE.”</a:t>
            </a:r>
          </a:p>
          <a:p>
            <a:pPr algn="l">
              <a:lnSpc>
                <a:spcPts val="3600"/>
              </a:lnSpc>
            </a:pPr>
          </a:p>
        </p:txBody>
      </p:sp>
      <p:sp>
        <p:nvSpPr>
          <p:cNvPr name="Freeform 8" id="8"/>
          <p:cNvSpPr/>
          <p:nvPr/>
        </p:nvSpPr>
        <p:spPr>
          <a:xfrm flipH="false" flipV="false" rot="0">
            <a:off x="10751494" y="-2484751"/>
            <a:ext cx="10314891" cy="5750552"/>
          </a:xfrm>
          <a:custGeom>
            <a:avLst/>
            <a:gdLst/>
            <a:ahLst/>
            <a:cxnLst/>
            <a:rect r="r" b="b" t="t" l="l"/>
            <a:pathLst>
              <a:path h="5750552" w="10314891">
                <a:moveTo>
                  <a:pt x="0" y="0"/>
                </a:moveTo>
                <a:lnTo>
                  <a:pt x="10314892" y="0"/>
                </a:lnTo>
                <a:lnTo>
                  <a:pt x="10314892" y="5750552"/>
                </a:lnTo>
                <a:lnTo>
                  <a:pt x="0" y="5750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2869147" y="-2468400"/>
            <a:ext cx="10314891" cy="5750552"/>
          </a:xfrm>
          <a:custGeom>
            <a:avLst/>
            <a:gdLst/>
            <a:ahLst/>
            <a:cxnLst/>
            <a:rect r="r" b="b" t="t" l="l"/>
            <a:pathLst>
              <a:path h="5750552" w="10314891">
                <a:moveTo>
                  <a:pt x="0" y="0"/>
                </a:moveTo>
                <a:lnTo>
                  <a:pt x="10314892" y="0"/>
                </a:lnTo>
                <a:lnTo>
                  <a:pt x="10314892" y="5750552"/>
                </a:lnTo>
                <a:lnTo>
                  <a:pt x="0" y="575055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13000"/>
            </a:blip>
            <a:stretch>
              <a:fillRect l="0" t="0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1028700" y="1989901"/>
            <a:ext cx="3064288" cy="4483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399"/>
              </a:lnSpc>
            </a:pPr>
            <a:r>
              <a:rPr lang="en-US" sz="33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High Concept</a:t>
            </a:r>
          </a:p>
        </p:txBody>
      </p:sp>
    </p:spTree>
  </p:cSld>
  <p:clrMapOvr>
    <a:masterClrMapping/>
  </p:clrMapOvr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0"/>
            <a:ext cx="6609867" cy="10287000"/>
            <a:chOff x="0" y="0"/>
            <a:chExt cx="1024041" cy="1593725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1024041" cy="1593725"/>
            </a:xfrm>
            <a:custGeom>
              <a:avLst/>
              <a:gdLst/>
              <a:ahLst/>
              <a:cxnLst/>
              <a:rect r="r" b="b" t="t" l="l"/>
              <a:pathLst>
                <a:path h="1593725" w="1024041">
                  <a:moveTo>
                    <a:pt x="0" y="0"/>
                  </a:moveTo>
                  <a:lnTo>
                    <a:pt x="1024041" y="0"/>
                  </a:lnTo>
                  <a:lnTo>
                    <a:pt x="1024041" y="1593725"/>
                  </a:lnTo>
                  <a:lnTo>
                    <a:pt x="0" y="1593725"/>
                  </a:lnTo>
                  <a:close/>
                </a:path>
              </a:pathLst>
            </a:custGeom>
            <a:blipFill>
              <a:blip r:embed="rId2"/>
              <a:stretch>
                <a:fillRect l="-4383" t="0" r="-4383" b="0"/>
              </a:stretch>
            </a:blipFill>
            <a:ln cap="sq">
              <a:noFill/>
              <a:prstDash val="solid"/>
              <a:miter/>
            </a:ln>
          </p:spPr>
        </p:sp>
      </p:grpSp>
      <p:sp>
        <p:nvSpPr>
          <p:cNvPr name="TextBox 4" id="4"/>
          <p:cNvSpPr txBox="true"/>
          <p:nvPr/>
        </p:nvSpPr>
        <p:spPr>
          <a:xfrm rot="0">
            <a:off x="7424690" y="1830757"/>
            <a:ext cx="7601086" cy="730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GENERO Y REFERENCIA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8207400" y="4057934"/>
            <a:ext cx="7601086" cy="31665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1331372" indent="-665686" lvl="1">
              <a:lnSpc>
                <a:spcPts val="6166"/>
              </a:lnSpc>
              <a:buFont typeface="Arial"/>
              <a:buChar char="•"/>
            </a:pPr>
            <a:r>
              <a:rPr lang="en-US" sz="6166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Plataformero</a:t>
            </a:r>
          </a:p>
          <a:p>
            <a:pPr algn="l" marL="1331372" indent="-665686" lvl="1">
              <a:lnSpc>
                <a:spcPts val="6166"/>
              </a:lnSpc>
              <a:buFont typeface="Arial"/>
              <a:buChar char="•"/>
            </a:pPr>
            <a:r>
              <a:rPr lang="en-US" sz="6166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Side-scroller</a:t>
            </a:r>
          </a:p>
          <a:p>
            <a:pPr algn="l" marL="1331372" indent="-665686" lvl="1">
              <a:lnSpc>
                <a:spcPts val="6166"/>
              </a:lnSpc>
              <a:buFont typeface="Arial"/>
              <a:buChar char="•"/>
            </a:pPr>
            <a:r>
              <a:rPr lang="en-US" sz="6166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Acción</a:t>
            </a:r>
          </a:p>
          <a:p>
            <a:pPr algn="l" marL="1331372" indent="-665686" lvl="1">
              <a:lnSpc>
                <a:spcPts val="6166"/>
              </a:lnSpc>
              <a:buFont typeface="Arial"/>
              <a:buChar char="•"/>
            </a:pPr>
            <a:r>
              <a:rPr lang="en-US" sz="6166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Combate + Puzzle</a:t>
            </a:r>
          </a:p>
        </p:txBody>
      </p:sp>
    </p:spTree>
  </p:cSld>
  <p:clrMapOvr>
    <a:masterClrMapping/>
  </p:clrMapOvr>
</p:sld>
</file>

<file path=ppt/slides/slide4.xml><?xml version="1.0" encoding="utf-8"?>
<p:sld xmlns:p="http://schemas.openxmlformats.org/presentationml/2006/main" xmlns:a="http://schemas.openxmlformats.org/drawingml/2006/main">
  <p:cSld>
    <p:bg>
      <p:bgPr>
        <a:solidFill>
          <a:srgbClr val="1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028700" y="1534412"/>
            <a:ext cx="16230600" cy="85788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 b="true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MECÁNICAS</a:t>
            </a:r>
          </a:p>
        </p:txBody>
      </p:sp>
      <p:sp>
        <p:nvSpPr>
          <p:cNvPr name="TextBox 3" id="3"/>
          <p:cNvSpPr txBox="true"/>
          <p:nvPr/>
        </p:nvSpPr>
        <p:spPr>
          <a:xfrm rot="0">
            <a:off x="1409721" y="2745230"/>
            <a:ext cx="5085745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599" b="true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Combate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727238" y="3527488"/>
            <a:ext cx="16230600" cy="8242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Ataques básicos, fuertes y especiales</a:t>
            </a:r>
          </a:p>
          <a:p>
            <a:pPr algn="l" marL="690877" indent="-345439" lvl="1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Diversos combos con cada transformación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6DA"/>
            </a:solidFill>
          </p:spPr>
        </p:sp>
        <p:sp>
          <p:nvSpPr>
            <p:cNvPr name="TextBox 7" id="7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0" y="9261013"/>
            <a:ext cx="18288000" cy="1028700"/>
            <a:chOff x="0" y="0"/>
            <a:chExt cx="4816593" cy="27093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6DA"/>
            </a:solidFill>
          </p:spPr>
        </p:sp>
        <p:sp>
          <p:nvSpPr>
            <p:cNvPr name="TextBox 10" id="10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11" id="11"/>
          <p:cNvSpPr txBox="true"/>
          <p:nvPr/>
        </p:nvSpPr>
        <p:spPr>
          <a:xfrm rot="0">
            <a:off x="1409721" y="4671060"/>
            <a:ext cx="5085745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599" b="true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Movimiento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727238" y="5345385"/>
            <a:ext cx="16230600" cy="122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Movimiento lateral</a:t>
            </a:r>
          </a:p>
          <a:p>
            <a:pPr algn="l" marL="690877" indent="-345439" lvl="1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Salto con el protagonista y cada transformación, variando en su altura y velocidad</a:t>
            </a:r>
          </a:p>
          <a:p>
            <a:pPr algn="l">
              <a:lnSpc>
                <a:spcPts val="3199"/>
              </a:lnSpc>
            </a:pPr>
          </a:p>
        </p:txBody>
      </p:sp>
      <p:sp>
        <p:nvSpPr>
          <p:cNvPr name="TextBox 13" id="13"/>
          <p:cNvSpPr txBox="true"/>
          <p:nvPr/>
        </p:nvSpPr>
        <p:spPr>
          <a:xfrm rot="0">
            <a:off x="1409721" y="6779214"/>
            <a:ext cx="5085745" cy="47244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3599" b="true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Puzzle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1727238" y="7451679"/>
            <a:ext cx="16230600" cy="12242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</a:t>
            </a:r>
            <a:r>
              <a:rPr lang="en-US" sz="31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ontarán</a:t>
            </a:r>
            <a:r>
              <a:rPr lang="en-US" sz="31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con habilidades únicas que servirán para interactuar con elementos del entorno</a:t>
            </a:r>
          </a:p>
          <a:p>
            <a:pPr algn="l">
              <a:lnSpc>
                <a:spcPts val="3199"/>
              </a:lnSpc>
            </a:pPr>
          </a:p>
        </p:txBody>
      </p:sp>
    </p:spTree>
  </p:cSld>
  <p:clrMapOvr>
    <a:masterClrMapping/>
  </p:clrMapOvr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09335" y="1028700"/>
            <a:ext cx="5649965" cy="8229600"/>
            <a:chOff x="0" y="0"/>
            <a:chExt cx="7533287" cy="109728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12515" r="0" b="12515"/>
            <a:stretch>
              <a:fillRect/>
            </a:stretch>
          </p:blipFill>
          <p:spPr>
            <a:xfrm flipH="false" flipV="false">
              <a:off x="0" y="0"/>
              <a:ext cx="7533287" cy="7230533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1186" r="0" b="1186"/>
            <a:stretch>
              <a:fillRect/>
            </a:stretch>
          </p:blipFill>
          <p:spPr>
            <a:xfrm flipH="false" flipV="false">
              <a:off x="0" y="7357533"/>
              <a:ext cx="3703144" cy="3615267"/>
            </a:xfrm>
            <a:prstGeom prst="rect">
              <a:avLst/>
            </a:prstGeom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0" t="1186" r="0" b="1186"/>
            <a:stretch>
              <a:fillRect/>
            </a:stretch>
          </p:blipFill>
          <p:spPr>
            <a:xfrm flipH="false" flipV="false">
              <a:off x="3830144" y="7357533"/>
              <a:ext cx="3703144" cy="3615267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F2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92502" y="2991671"/>
            <a:ext cx="2023316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Ataque</a:t>
            </a:r>
          </a:p>
          <a:p>
            <a:pPr algn="just">
              <a:lnSpc>
                <a:spcPts val="19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95673" y="1401867"/>
            <a:ext cx="304029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LOBO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3707" y="3736526"/>
            <a:ext cx="8910620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Ga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rras cuerpo a cuerpo · rápido, menos fuerza</a:t>
            </a:r>
          </a:p>
        </p:txBody>
      </p:sp>
      <p:sp>
        <p:nvSpPr>
          <p:cNvPr name="TextBox 12" id="12"/>
          <p:cNvSpPr txBox="true"/>
          <p:nvPr/>
        </p:nvSpPr>
        <p:spPr>
          <a:xfrm rot="0">
            <a:off x="1692502" y="4946650"/>
            <a:ext cx="2023316" cy="4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Puzzle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3707" y="5721350"/>
            <a:ext cx="8910620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asg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ar: rompe puntos frágiles del escenario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92502" y="7124700"/>
            <a:ext cx="2414672" cy="4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Movimiento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3707" y="7899399"/>
            <a:ext cx="8910620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alto alto · velocidad alta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09335" y="1028700"/>
            <a:ext cx="5649965" cy="8229600"/>
            <a:chOff x="0" y="0"/>
            <a:chExt cx="7533287" cy="109728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009" r="0" b="2009"/>
            <a:stretch>
              <a:fillRect/>
            </a:stretch>
          </p:blipFill>
          <p:spPr>
            <a:xfrm flipH="false" flipV="false">
              <a:off x="0" y="0"/>
              <a:ext cx="7533287" cy="7230533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1186" r="0" b="1186"/>
            <a:stretch>
              <a:fillRect/>
            </a:stretch>
          </p:blipFill>
          <p:spPr>
            <a:xfrm flipH="false" flipV="false">
              <a:off x="0" y="7357533"/>
              <a:ext cx="3703144" cy="3615267"/>
            </a:xfrm>
            <a:prstGeom prst="rect">
              <a:avLst/>
            </a:prstGeom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0" t="1609" r="0" b="1609"/>
            <a:stretch>
              <a:fillRect/>
            </a:stretch>
          </p:blipFill>
          <p:spPr>
            <a:xfrm flipH="false" flipV="false">
              <a:off x="3830144" y="7357533"/>
              <a:ext cx="3703144" cy="3615267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F2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92502" y="2991671"/>
            <a:ext cx="2023316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Ataque</a:t>
            </a:r>
          </a:p>
          <a:p>
            <a:pPr algn="just">
              <a:lnSpc>
                <a:spcPts val="19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95673" y="1401867"/>
            <a:ext cx="3040290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OSO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3707" y="3736526"/>
            <a:ext cx="8910620" cy="1336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Ga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rras a corta distancia · lento, más fuerza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92502" y="4946650"/>
            <a:ext cx="2023316" cy="4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Puzzle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3707" y="5721350"/>
            <a:ext cx="8910620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Empuj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 objetos pesados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92502" y="7124700"/>
            <a:ext cx="2414672" cy="4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Movimiento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3707" y="7899399"/>
            <a:ext cx="8910620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alto bajo · velocidad baja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11609335" y="1028700"/>
            <a:ext cx="5649965" cy="8229600"/>
            <a:chOff x="0" y="0"/>
            <a:chExt cx="7533287" cy="10972800"/>
          </a:xfrm>
        </p:grpSpPr>
        <p:pic>
          <p:nvPicPr>
            <p:cNvPr name="Picture 3" id="3"/>
            <p:cNvPicPr>
              <a:picLocks noChangeAspect="true"/>
            </p:cNvPicPr>
            <p:nvPr/>
          </p:nvPicPr>
          <p:blipFill>
            <a:blip r:embed="rId2"/>
            <a:srcRect l="0" t="2009" r="0" b="2009"/>
            <a:stretch>
              <a:fillRect/>
            </a:stretch>
          </p:blipFill>
          <p:spPr>
            <a:xfrm flipH="false" flipV="false">
              <a:off x="0" y="0"/>
              <a:ext cx="7533287" cy="7230533"/>
            </a:xfrm>
            <a:prstGeom prst="rect">
              <a:avLst/>
            </a:prstGeom>
          </p:spPr>
        </p:pic>
        <p:pic>
          <p:nvPicPr>
            <p:cNvPr name="Picture 4" id="4"/>
            <p:cNvPicPr>
              <a:picLocks noChangeAspect="true"/>
            </p:cNvPicPr>
            <p:nvPr/>
          </p:nvPicPr>
          <p:blipFill>
            <a:blip r:embed="rId3"/>
            <a:srcRect l="0" t="1186" r="0" b="1186"/>
            <a:stretch>
              <a:fillRect/>
            </a:stretch>
          </p:blipFill>
          <p:spPr>
            <a:xfrm flipH="false" flipV="false">
              <a:off x="0" y="7357533"/>
              <a:ext cx="3703144" cy="3615267"/>
            </a:xfrm>
            <a:prstGeom prst="rect">
              <a:avLst/>
            </a:prstGeom>
          </p:spPr>
        </p:pic>
        <p:pic>
          <p:nvPicPr>
            <p:cNvPr name="Picture 5" id="5"/>
            <p:cNvPicPr>
              <a:picLocks noChangeAspect="true"/>
            </p:cNvPicPr>
            <p:nvPr/>
          </p:nvPicPr>
          <p:blipFill>
            <a:blip r:embed="rId4"/>
            <a:srcRect l="0" t="1186" r="0" b="1186"/>
            <a:stretch>
              <a:fillRect/>
            </a:stretch>
          </p:blipFill>
          <p:spPr>
            <a:xfrm flipH="false" flipV="false">
              <a:off x="3830144" y="7357533"/>
              <a:ext cx="3703144" cy="3615267"/>
            </a:xfrm>
            <a:prstGeom prst="rect">
              <a:avLst/>
            </a:prstGeom>
          </p:spPr>
        </p:pic>
      </p:grpSp>
      <p:grpSp>
        <p:nvGrpSpPr>
          <p:cNvPr name="Group 6" id="6"/>
          <p:cNvGrpSpPr/>
          <p:nvPr/>
        </p:nvGrpSpPr>
        <p:grpSpPr>
          <a:xfrm rot="0">
            <a:off x="0" y="0"/>
            <a:ext cx="1028700" cy="10287000"/>
            <a:chOff x="0" y="0"/>
            <a:chExt cx="270933" cy="27093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270933" cy="2709333"/>
            </a:xfrm>
            <a:custGeom>
              <a:avLst/>
              <a:gdLst/>
              <a:ahLst/>
              <a:cxnLst/>
              <a:rect r="r" b="b" t="t" l="l"/>
              <a:pathLst>
                <a:path h="2709333" w="270933">
                  <a:moveTo>
                    <a:pt x="0" y="0"/>
                  </a:moveTo>
                  <a:lnTo>
                    <a:pt x="270933" y="0"/>
                  </a:lnTo>
                  <a:lnTo>
                    <a:pt x="270933" y="2709333"/>
                  </a:lnTo>
                  <a:lnTo>
                    <a:pt x="0" y="2709333"/>
                  </a:lnTo>
                  <a:close/>
                </a:path>
              </a:pathLst>
            </a:custGeom>
            <a:solidFill>
              <a:srgbClr val="1C1F2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270933" cy="27474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1692502" y="2991671"/>
            <a:ext cx="2023316" cy="678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Ataque</a:t>
            </a:r>
          </a:p>
          <a:p>
            <a:pPr algn="just">
              <a:lnSpc>
                <a:spcPts val="1900"/>
              </a:lnSpc>
            </a:pPr>
          </a:p>
        </p:txBody>
      </p:sp>
      <p:sp>
        <p:nvSpPr>
          <p:cNvPr name="TextBox 10" id="10"/>
          <p:cNvSpPr txBox="true"/>
          <p:nvPr/>
        </p:nvSpPr>
        <p:spPr>
          <a:xfrm rot="0">
            <a:off x="2195673" y="1401867"/>
            <a:ext cx="6199087" cy="96393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7200"/>
              </a:lnSpc>
            </a:pPr>
            <a:r>
              <a:rPr lang="en-US" sz="7200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MURCIELAGO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863707" y="3736526"/>
            <a:ext cx="8910620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Disp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ro sónico a distancia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2" id="12"/>
          <p:cNvSpPr txBox="true"/>
          <p:nvPr/>
        </p:nvSpPr>
        <p:spPr>
          <a:xfrm rot="0">
            <a:off x="1692502" y="4946650"/>
            <a:ext cx="2023316" cy="4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Puzzle</a:t>
            </a:r>
          </a:p>
        </p:txBody>
      </p:sp>
      <p:sp>
        <p:nvSpPr>
          <p:cNvPr name="TextBox 13" id="13"/>
          <p:cNvSpPr txBox="true"/>
          <p:nvPr/>
        </p:nvSpPr>
        <p:spPr>
          <a:xfrm rot="0">
            <a:off x="1863707" y="5721350"/>
            <a:ext cx="8910620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Pl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an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eo: traversal de distancias largas</a:t>
            </a:r>
          </a:p>
          <a:p>
            <a:pPr algn="l">
              <a:lnSpc>
                <a:spcPts val="3499"/>
              </a:lnSpc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1692502" y="7124700"/>
            <a:ext cx="2414672" cy="46037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3499"/>
              </a:lnSpc>
            </a:pP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Movimiento</a:t>
            </a:r>
          </a:p>
        </p:txBody>
      </p:sp>
      <p:sp>
        <p:nvSpPr>
          <p:cNvPr name="TextBox 15" id="15"/>
          <p:cNvSpPr txBox="true"/>
          <p:nvPr/>
        </p:nvSpPr>
        <p:spPr>
          <a:xfrm rot="0">
            <a:off x="1863707" y="7899399"/>
            <a:ext cx="8910620" cy="8985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499"/>
              </a:lnSpc>
            </a:pP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</a:t>
            </a:r>
            <a:r>
              <a:rPr lang="en-US" sz="34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alto medio</a:t>
            </a:r>
          </a:p>
          <a:p>
            <a:pPr algn="l">
              <a:lnSpc>
                <a:spcPts val="3499"/>
              </a:lnSpc>
            </a:pPr>
          </a:p>
        </p:txBody>
      </p:sp>
    </p:spTree>
  </p:cSld>
  <p:clrMapOvr>
    <a:masterClrMapping/>
  </p:clrMapOvr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7474059" y="3418469"/>
            <a:ext cx="2260401" cy="5091088"/>
          </a:xfrm>
          <a:custGeom>
            <a:avLst/>
            <a:gdLst/>
            <a:ahLst/>
            <a:cxnLst/>
            <a:rect r="r" b="b" t="t" l="l"/>
            <a:pathLst>
              <a:path h="5091088" w="2260401">
                <a:moveTo>
                  <a:pt x="0" y="0"/>
                </a:moveTo>
                <a:lnTo>
                  <a:pt x="2260402" y="0"/>
                </a:lnTo>
                <a:lnTo>
                  <a:pt x="2260402" y="5091088"/>
                </a:lnTo>
                <a:lnTo>
                  <a:pt x="0" y="5091088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1343291"/>
            <a:ext cx="9325974" cy="73024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499"/>
              </a:lnSpc>
            </a:pPr>
            <a:r>
              <a:rPr lang="en-US" sz="5499" b="true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VIDA, ENERGÍA Y ENEMIGOS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280286" y="3785138"/>
            <a:ext cx="3251312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b="true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Vida y Energía</a:t>
            </a:r>
          </a:p>
        </p:txBody>
      </p:sp>
      <p:sp>
        <p:nvSpPr>
          <p:cNvPr name="TextBox 5" id="5"/>
          <p:cNvSpPr txBox="true"/>
          <p:nvPr/>
        </p:nvSpPr>
        <p:spPr>
          <a:xfrm rot="0">
            <a:off x="1028700" y="4847513"/>
            <a:ext cx="6445359" cy="22996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7123" indent="-393561" lvl="1">
              <a:lnSpc>
                <a:spcPts val="3645"/>
              </a:lnSpc>
              <a:buFont typeface="Arial"/>
              <a:buChar char="•"/>
            </a:pPr>
            <a:r>
              <a:rPr lang="en-US" sz="3645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Bar</a:t>
            </a:r>
            <a:r>
              <a:rPr lang="en-US" sz="3645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ra de vida única</a:t>
            </a:r>
          </a:p>
          <a:p>
            <a:pPr algn="l" marL="787123" indent="-393561" lvl="1">
              <a:lnSpc>
                <a:spcPts val="3645"/>
              </a:lnSpc>
              <a:buFont typeface="Arial"/>
              <a:buChar char="•"/>
            </a:pPr>
            <a:r>
              <a:rPr lang="en-US" sz="3645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Al llegar a 0, se reinicia el nivel.</a:t>
            </a:r>
          </a:p>
          <a:p>
            <a:pPr algn="l" marL="787123" indent="-393561" lvl="1">
              <a:lnSpc>
                <a:spcPts val="3645"/>
              </a:lnSpc>
              <a:buFont typeface="Arial"/>
              <a:buChar char="•"/>
            </a:pPr>
            <a:r>
              <a:rPr lang="en-US" sz="3645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energía de transformación es limitada.</a:t>
            </a:r>
          </a:p>
        </p:txBody>
      </p:sp>
      <p:sp>
        <p:nvSpPr>
          <p:cNvPr name="TextBox 6" id="6"/>
          <p:cNvSpPr txBox="true"/>
          <p:nvPr/>
        </p:nvSpPr>
        <p:spPr>
          <a:xfrm rot="0">
            <a:off x="10354674" y="3785138"/>
            <a:ext cx="3251312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 b="true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Enemigos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10601582" y="4620138"/>
            <a:ext cx="7591471" cy="27544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787123" indent="-393561" lvl="1">
              <a:lnSpc>
                <a:spcPts val="3645"/>
              </a:lnSpc>
              <a:buFont typeface="Arial"/>
              <a:buChar char="•"/>
            </a:pPr>
            <a:r>
              <a:rPr lang="en-US" sz="3645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2-3</a:t>
            </a:r>
            <a:r>
              <a:rPr lang="en-US" sz="3645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 tipos distintos: cuerpo a cuerpo, a distancia y resistente.</a:t>
            </a:r>
          </a:p>
          <a:p>
            <a:pPr algn="l" marL="787123" indent="-393561" lvl="1">
              <a:lnSpc>
                <a:spcPts val="3645"/>
              </a:lnSpc>
              <a:buFont typeface="Arial"/>
              <a:buChar char="•"/>
            </a:pPr>
            <a:r>
              <a:rPr lang="en-US" sz="3645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La cantidad escala con la dificultad</a:t>
            </a:r>
          </a:p>
          <a:p>
            <a:pPr algn="l" marL="787123" indent="-393561" lvl="1">
              <a:lnSpc>
                <a:spcPts val="3645"/>
              </a:lnSpc>
              <a:buFont typeface="Arial"/>
              <a:buChar char="•"/>
            </a:pPr>
            <a:r>
              <a:rPr lang="en-US" sz="3645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 juego termina con un jefe, enfrentado en combate directo.</a:t>
            </a:r>
          </a:p>
        </p:txBody>
      </p:sp>
    </p:spTree>
  </p:cSld>
  <p:clrMapOvr>
    <a:masterClrMapping/>
  </p:clrMapOvr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ECE6D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TextBox 2" id="2"/>
          <p:cNvSpPr txBox="true"/>
          <p:nvPr/>
        </p:nvSpPr>
        <p:spPr>
          <a:xfrm rot="0">
            <a:off x="1275064" y="3865959"/>
            <a:ext cx="6538831" cy="16802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</a:t>
            </a: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stilo vectorial, con formas simples y paletas oscuras.</a:t>
            </a:r>
          </a:p>
          <a:p>
            <a:pPr algn="ctr">
              <a:lnSpc>
                <a:spcPts val="3499"/>
              </a:lnSpc>
            </a:pPr>
          </a:p>
          <a:p>
            <a:pPr algn="just">
              <a:lnSpc>
                <a:spcPts val="2799"/>
              </a:lnSpc>
            </a:pPr>
          </a:p>
        </p:txBody>
      </p:sp>
      <p:sp>
        <p:nvSpPr>
          <p:cNvPr name="TextBox 3" id="3"/>
          <p:cNvSpPr txBox="true"/>
          <p:nvPr/>
        </p:nvSpPr>
        <p:spPr>
          <a:xfrm rot="0">
            <a:off x="5131233" y="1938179"/>
            <a:ext cx="8025533" cy="5759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42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DISEÑO ARTÍSTICO Y SONORO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3742238" y="3123567"/>
            <a:ext cx="2014517" cy="6242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699"/>
              </a:lnSpc>
            </a:pPr>
            <a:r>
              <a:rPr lang="en-US" sz="46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Arte</a:t>
            </a:r>
          </a:p>
        </p:txBody>
      </p:sp>
      <p:sp>
        <p:nvSpPr>
          <p:cNvPr name="AutoShape 5" id="5"/>
          <p:cNvSpPr/>
          <p:nvPr/>
        </p:nvSpPr>
        <p:spPr>
          <a:xfrm flipH="true" flipV="true">
            <a:off x="9163050" y="3256280"/>
            <a:ext cx="0" cy="1887220"/>
          </a:xfrm>
          <a:prstGeom prst="line">
            <a:avLst/>
          </a:prstGeom>
          <a:ln cap="flat" w="38100">
            <a:solidFill>
              <a:srgbClr val="1C1F2E"/>
            </a:solidFill>
            <a:prstDash val="solid"/>
            <a:headEnd type="none" len="sm" w="sm"/>
            <a:tailEnd type="none" len="sm" w="sm"/>
          </a:ln>
        </p:spPr>
      </p:sp>
      <p:grpSp>
        <p:nvGrpSpPr>
          <p:cNvPr name="Group 6" id="6"/>
          <p:cNvGrpSpPr/>
          <p:nvPr/>
        </p:nvGrpSpPr>
        <p:grpSpPr>
          <a:xfrm rot="0">
            <a:off x="0" y="0"/>
            <a:ext cx="18288000" cy="1028700"/>
            <a:chOff x="0" y="0"/>
            <a:chExt cx="4816593" cy="270933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1C1F2E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9" id="9"/>
          <p:cNvSpPr/>
          <p:nvPr/>
        </p:nvSpPr>
        <p:spPr>
          <a:xfrm flipH="false" flipV="false" rot="0">
            <a:off x="-905767" y="8082200"/>
            <a:ext cx="5574072" cy="4950422"/>
          </a:xfrm>
          <a:custGeom>
            <a:avLst/>
            <a:gdLst/>
            <a:ahLst/>
            <a:cxnLst/>
            <a:rect r="r" b="b" t="t" l="l"/>
            <a:pathLst>
              <a:path h="4950422" w="5574072">
                <a:moveTo>
                  <a:pt x="0" y="0"/>
                </a:moveTo>
                <a:lnTo>
                  <a:pt x="5574072" y="0"/>
                </a:lnTo>
                <a:lnTo>
                  <a:pt x="5574072" y="4950423"/>
                </a:lnTo>
                <a:lnTo>
                  <a:pt x="0" y="4950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0" id="10"/>
          <p:cNvSpPr/>
          <p:nvPr/>
        </p:nvSpPr>
        <p:spPr>
          <a:xfrm flipH="false" flipV="false" rot="0">
            <a:off x="13486432" y="8082200"/>
            <a:ext cx="5574072" cy="4950422"/>
          </a:xfrm>
          <a:custGeom>
            <a:avLst/>
            <a:gdLst/>
            <a:ahLst/>
            <a:cxnLst/>
            <a:rect r="r" b="b" t="t" l="l"/>
            <a:pathLst>
              <a:path h="4950422" w="5574072">
                <a:moveTo>
                  <a:pt x="0" y="0"/>
                </a:moveTo>
                <a:lnTo>
                  <a:pt x="5574072" y="0"/>
                </a:lnTo>
                <a:lnTo>
                  <a:pt x="5574072" y="4950423"/>
                </a:lnTo>
                <a:lnTo>
                  <a:pt x="0" y="4950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1" id="11"/>
          <p:cNvSpPr/>
          <p:nvPr/>
        </p:nvSpPr>
        <p:spPr>
          <a:xfrm flipH="false" flipV="false" rot="0">
            <a:off x="3742238" y="8082200"/>
            <a:ext cx="5574072" cy="4950422"/>
          </a:xfrm>
          <a:custGeom>
            <a:avLst/>
            <a:gdLst/>
            <a:ahLst/>
            <a:cxnLst/>
            <a:rect r="r" b="b" t="t" l="l"/>
            <a:pathLst>
              <a:path h="4950422" w="5574072">
                <a:moveTo>
                  <a:pt x="0" y="0"/>
                </a:moveTo>
                <a:lnTo>
                  <a:pt x="5574072" y="0"/>
                </a:lnTo>
                <a:lnTo>
                  <a:pt x="5574072" y="4950423"/>
                </a:lnTo>
                <a:lnTo>
                  <a:pt x="0" y="4950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8839104" y="8082200"/>
            <a:ext cx="5574072" cy="4950422"/>
          </a:xfrm>
          <a:custGeom>
            <a:avLst/>
            <a:gdLst/>
            <a:ahLst/>
            <a:cxnLst/>
            <a:rect r="r" b="b" t="t" l="l"/>
            <a:pathLst>
              <a:path h="4950422" w="5574072">
                <a:moveTo>
                  <a:pt x="0" y="0"/>
                </a:moveTo>
                <a:lnTo>
                  <a:pt x="5574071" y="0"/>
                </a:lnTo>
                <a:lnTo>
                  <a:pt x="5574071" y="4950423"/>
                </a:lnTo>
                <a:lnTo>
                  <a:pt x="0" y="495042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13" id="13"/>
          <p:cNvSpPr txBox="true"/>
          <p:nvPr/>
        </p:nvSpPr>
        <p:spPr>
          <a:xfrm rot="0">
            <a:off x="12639160" y="3097530"/>
            <a:ext cx="2070425" cy="5759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4299"/>
              </a:lnSpc>
            </a:pPr>
            <a:r>
              <a:rPr lang="en-US" sz="4299" b="true">
                <a:solidFill>
                  <a:srgbClr val="1C1F2E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Sonido</a:t>
            </a:r>
          </a:p>
        </p:txBody>
      </p:sp>
      <p:sp>
        <p:nvSpPr>
          <p:cNvPr name="TextBox 14" id="14"/>
          <p:cNvSpPr txBox="true"/>
          <p:nvPr/>
        </p:nvSpPr>
        <p:spPr>
          <a:xfrm rot="0">
            <a:off x="9902067" y="3814446"/>
            <a:ext cx="7544612" cy="225488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3499"/>
              </a:lnSpc>
            </a:pP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Enfoque en </a:t>
            </a:r>
            <a:r>
              <a:rPr lang="en-US" sz="34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sonidos de la naturaleza, viento, hojas, agua, fauna del bosque, que construyen la atmósfera y sostienen la tensión.</a:t>
            </a:r>
          </a:p>
          <a:p>
            <a:pPr algn="ctr">
              <a:lnSpc>
                <a:spcPts val="3799"/>
              </a:lnSpc>
            </a:pPr>
          </a:p>
        </p:txBody>
      </p:sp>
      <p:sp>
        <p:nvSpPr>
          <p:cNvPr name="TextBox 15" id="15"/>
          <p:cNvSpPr txBox="true"/>
          <p:nvPr/>
        </p:nvSpPr>
        <p:spPr>
          <a:xfrm rot="0">
            <a:off x="935011" y="6869430"/>
            <a:ext cx="16417979" cy="11753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99"/>
              </a:lnSpc>
            </a:pPr>
            <a:r>
              <a:rPr lang="en-US" sz="29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T</a:t>
            </a:r>
            <a:r>
              <a:rPr lang="en-US" sz="29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ensión c</a:t>
            </a:r>
            <a:r>
              <a:rPr lang="en-US" sz="2999">
                <a:solidFill>
                  <a:srgbClr val="1C1F2E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onstante, sin caer en lo explícito. Se trabaja mediante sugerencia y atmósfera, no violencia gráfica directa.</a:t>
            </a:r>
          </a:p>
          <a:p>
            <a:pPr algn="ctr">
              <a:lnSpc>
                <a:spcPts val="3299"/>
              </a:lnSpc>
            </a:pPr>
          </a:p>
        </p:txBody>
      </p:sp>
    </p:spTree>
  </p:cSld>
  <p:clrMapOvr>
    <a:masterClrMapping/>
  </p:clrMapOvr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name="Group 2" id="2"/>
          <p:cNvGrpSpPr/>
          <p:nvPr/>
        </p:nvGrpSpPr>
        <p:grpSpPr>
          <a:xfrm rot="0">
            <a:off x="0" y="9258300"/>
            <a:ext cx="18288000" cy="1028700"/>
            <a:chOff x="0" y="0"/>
            <a:chExt cx="4816593" cy="270933"/>
          </a:xfrm>
        </p:grpSpPr>
        <p:sp>
          <p:nvSpPr>
            <p:cNvPr name="Freeform 3" id="3"/>
            <p:cNvSpPr/>
            <p:nvPr/>
          </p:nvSpPr>
          <p:spPr>
            <a:xfrm flipH="false" flipV="false" rot="0">
              <a:off x="0" y="0"/>
              <a:ext cx="4816592" cy="270933"/>
            </a:xfrm>
            <a:custGeom>
              <a:avLst/>
              <a:gdLst/>
              <a:ahLst/>
              <a:cxnLst/>
              <a:rect r="r" b="b" t="t" l="l"/>
              <a:pathLst>
                <a:path h="270933" w="4816592">
                  <a:moveTo>
                    <a:pt x="0" y="0"/>
                  </a:moveTo>
                  <a:lnTo>
                    <a:pt x="4816592" y="0"/>
                  </a:lnTo>
                  <a:lnTo>
                    <a:pt x="4816592" y="270933"/>
                  </a:lnTo>
                  <a:lnTo>
                    <a:pt x="0" y="270933"/>
                  </a:lnTo>
                  <a:close/>
                </a:path>
              </a:pathLst>
            </a:custGeom>
            <a:solidFill>
              <a:srgbClr val="ECE6DA"/>
            </a:solidFill>
          </p:spPr>
        </p:sp>
        <p:sp>
          <p:nvSpPr>
            <p:cNvPr name="TextBox 4" id="4"/>
            <p:cNvSpPr txBox="true"/>
            <p:nvPr/>
          </p:nvSpPr>
          <p:spPr>
            <a:xfrm>
              <a:off x="0" y="-38100"/>
              <a:ext cx="4816593" cy="309033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659"/>
                </a:lnSpc>
                <a:spcBef>
                  <a:spcPct val="0"/>
                </a:spcBef>
              </a:pPr>
            </a:p>
          </p:txBody>
        </p:sp>
      </p:grpSp>
      <p:sp>
        <p:nvSpPr>
          <p:cNvPr name="Freeform 5" id="5"/>
          <p:cNvSpPr/>
          <p:nvPr/>
        </p:nvSpPr>
        <p:spPr>
          <a:xfrm flipH="false" flipV="false" rot="0">
            <a:off x="1618015" y="3428966"/>
            <a:ext cx="15051970" cy="1270010"/>
          </a:xfrm>
          <a:custGeom>
            <a:avLst/>
            <a:gdLst/>
            <a:ahLst/>
            <a:cxnLst/>
            <a:rect r="r" b="b" t="t" l="l"/>
            <a:pathLst>
              <a:path h="1270010" w="15051970">
                <a:moveTo>
                  <a:pt x="0" y="0"/>
                </a:moveTo>
                <a:lnTo>
                  <a:pt x="15051970" y="0"/>
                </a:lnTo>
                <a:lnTo>
                  <a:pt x="15051970" y="1270010"/>
                </a:lnTo>
                <a:lnTo>
                  <a:pt x="0" y="127001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0" r="0" b="0"/>
            </a:stretch>
          </a:blipFill>
        </p:spPr>
      </p:sp>
      <p:sp>
        <p:nvSpPr>
          <p:cNvPr name="TextBox 6" id="6"/>
          <p:cNvSpPr txBox="true"/>
          <p:nvPr/>
        </p:nvSpPr>
        <p:spPr>
          <a:xfrm rot="0">
            <a:off x="6620773" y="1670933"/>
            <a:ext cx="5046453" cy="836293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299"/>
              </a:lnSpc>
            </a:pPr>
            <a:r>
              <a:rPr lang="en-US" sz="6299" b="true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PROGRESIÓN</a:t>
            </a:r>
          </a:p>
        </p:txBody>
      </p:sp>
      <p:sp>
        <p:nvSpPr>
          <p:cNvPr name="TextBox 7" id="7"/>
          <p:cNvSpPr txBox="true"/>
          <p:nvPr/>
        </p:nvSpPr>
        <p:spPr>
          <a:xfrm rot="0">
            <a:off x="839756" y="5995023"/>
            <a:ext cx="16608489" cy="20243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90877" indent="-345439" lvl="1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</a:t>
            </a:r>
            <a:r>
              <a:rPr lang="en-US" sz="31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nd. de victoria por sección: llegar del punto A al punto B.</a:t>
            </a:r>
          </a:p>
          <a:p>
            <a:pPr algn="l">
              <a:lnSpc>
                <a:spcPts val="3199"/>
              </a:lnSpc>
            </a:pPr>
          </a:p>
          <a:p>
            <a:pPr algn="l" marL="690877" indent="-345439" lvl="1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Cond. de victoria general: rescatar al hijo de las manos del jefe de la secta.</a:t>
            </a:r>
          </a:p>
          <a:p>
            <a:pPr algn="l">
              <a:lnSpc>
                <a:spcPts val="3199"/>
              </a:lnSpc>
            </a:pPr>
          </a:p>
          <a:p>
            <a:pPr algn="l" marL="690877" indent="-345439" lvl="1">
              <a:lnSpc>
                <a:spcPts val="3199"/>
              </a:lnSpc>
              <a:buFont typeface="Arial"/>
              <a:buChar char="•"/>
            </a:pPr>
            <a:r>
              <a:rPr lang="en-US" sz="3199">
                <a:solidFill>
                  <a:srgbClr val="FFFFFF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Cond. de derrota: la vida llega a 0 → se reinicia el nivel o sección, sin penalización.</a:t>
            </a:r>
          </a:p>
        </p:txBody>
      </p:sp>
    </p:spTree>
  </p:cSld>
  <p:clrMapOvr>
    <a:masterClrMapping/>
  </p:clrMapOvr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bg>
      <p:bgPr>
        <a:solidFill>
          <a:srgbClr val="1C1F2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true" flipV="false" rot="0">
            <a:off x="11162936" y="-834630"/>
            <a:ext cx="12522721" cy="11121630"/>
          </a:xfrm>
          <a:custGeom>
            <a:avLst/>
            <a:gdLst/>
            <a:ahLst/>
            <a:cxnLst/>
            <a:rect r="r" b="b" t="t" l="l"/>
            <a:pathLst>
              <a:path h="11121630" w="12522721">
                <a:moveTo>
                  <a:pt x="12522721" y="0"/>
                </a:moveTo>
                <a:lnTo>
                  <a:pt x="0" y="0"/>
                </a:lnTo>
                <a:lnTo>
                  <a:pt x="0" y="11121630"/>
                </a:lnTo>
                <a:lnTo>
                  <a:pt x="12522721" y="11121630"/>
                </a:lnTo>
                <a:lnTo>
                  <a:pt x="12522721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275367" y="2098082"/>
            <a:ext cx="6014694" cy="76644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5799"/>
              </a:lnSpc>
            </a:pPr>
            <a:r>
              <a:rPr lang="en-US" sz="5799" b="true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PUNTOS FUERTES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336314" y="4230887"/>
            <a:ext cx="14441240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2799"/>
              </a:lnSpc>
              <a:buFont typeface="Arial"/>
              <a:buChar char="•"/>
            </a:pPr>
            <a:r>
              <a:rPr lang="en-US" sz="27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D</a:t>
            </a:r>
            <a:r>
              <a:rPr lang="en-US" sz="27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oble función de cada transformación: combate y resolución de puzzles.</a:t>
            </a:r>
          </a:p>
        </p:txBody>
      </p:sp>
      <p:sp>
        <p:nvSpPr>
          <p:cNvPr name="Freeform 5" id="5"/>
          <p:cNvSpPr/>
          <p:nvPr/>
        </p:nvSpPr>
        <p:spPr>
          <a:xfrm flipH="true" flipV="false" rot="0">
            <a:off x="-5232661" y="5925543"/>
            <a:ext cx="12522721" cy="11121630"/>
          </a:xfrm>
          <a:custGeom>
            <a:avLst/>
            <a:gdLst/>
            <a:ahLst/>
            <a:cxnLst/>
            <a:rect r="r" b="b" t="t" l="l"/>
            <a:pathLst>
              <a:path h="11121630" w="12522721">
                <a:moveTo>
                  <a:pt x="12522722" y="0"/>
                </a:moveTo>
                <a:lnTo>
                  <a:pt x="0" y="0"/>
                </a:lnTo>
                <a:lnTo>
                  <a:pt x="0" y="11121629"/>
                </a:lnTo>
                <a:lnTo>
                  <a:pt x="12522722" y="11121629"/>
                </a:lnTo>
                <a:lnTo>
                  <a:pt x="12522722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AutoShape 6" id="6"/>
          <p:cNvSpPr/>
          <p:nvPr/>
        </p:nvSpPr>
        <p:spPr>
          <a:xfrm>
            <a:off x="0" y="9277350"/>
            <a:ext cx="18288000" cy="0"/>
          </a:xfrm>
          <a:prstGeom prst="line">
            <a:avLst/>
          </a:prstGeom>
          <a:ln cap="flat" w="38100">
            <a:solidFill>
              <a:srgbClr val="ECE6DA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7" id="7"/>
          <p:cNvSpPr txBox="true"/>
          <p:nvPr/>
        </p:nvSpPr>
        <p:spPr>
          <a:xfrm rot="0">
            <a:off x="1336314" y="5191125"/>
            <a:ext cx="14410766" cy="7283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2799"/>
              </a:lnSpc>
              <a:buFont typeface="Arial"/>
              <a:buChar char="•"/>
            </a:pPr>
            <a:r>
              <a:rPr lang="en-US" sz="27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Gancho </a:t>
            </a:r>
            <a:r>
              <a:rPr lang="en-US" sz="27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narrativo fuerte y fácil de comunicar: el secuestro del hijo y la aparición del collar en el momento de mayor vulnerabilidad.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366787" y="6592193"/>
            <a:ext cx="14410766" cy="37592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604519" indent="-302260" lvl="1">
              <a:lnSpc>
                <a:spcPts val="2799"/>
              </a:lnSpc>
              <a:buFont typeface="Arial"/>
              <a:buChar char="•"/>
            </a:pPr>
            <a:r>
              <a:rPr lang="en-US" sz="2799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Combate frenético y estratégico </a:t>
            </a:r>
          </a:p>
        </p:txBody>
      </p:sp>
    </p:spTree>
  </p:cSld>
  <p:clrMapOvr>
    <a:masterClrMapping/>
  </p:clrMapOvr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11986" r="0" b="-6458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1028700" y="4366895"/>
            <a:ext cx="12083974" cy="8578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6399"/>
              </a:lnSpc>
            </a:pPr>
            <a:r>
              <a:rPr lang="en-US" sz="6399" b="true">
                <a:solidFill>
                  <a:srgbClr val="ECE6DA"/>
                </a:solidFill>
                <a:latin typeface="Glacial Indifference Bold"/>
                <a:ea typeface="Glacial Indifference Bold"/>
                <a:cs typeface="Glacial Indifference Bold"/>
                <a:sym typeface="Glacial Indifference Bold"/>
              </a:rPr>
              <a:t>GRACIAS POR SU ATENCIÓN!!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1028700" y="6384595"/>
            <a:ext cx="16230600" cy="42418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3200"/>
              </a:lnSpc>
            </a:pPr>
            <a:r>
              <a:rPr lang="en-US" sz="3200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Mica</a:t>
            </a:r>
            <a:r>
              <a:rPr lang="en-US" sz="3200">
                <a:solidFill>
                  <a:srgbClr val="ECE6DA"/>
                </a:solidFill>
                <a:latin typeface="Glacial Indifference"/>
                <a:ea typeface="Glacial Indifference"/>
                <a:cs typeface="Glacial Indifference"/>
                <a:sym typeface="Glacial Indifference"/>
              </a:rPr>
              <a:t>ela Córdoba · Franco Hereñú · Tomás Moreno 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DAHSJBtnZp8</dc:identifier>
  <dcterms:modified xsi:type="dcterms:W3CDTF">2011-08-01T06:04:30Z</dcterms:modified>
  <cp:revision>1</cp:revision>
  <dc:title>Pitch - TP 3 - Córdoba · Hereñú · Moreno  </dc:title>
</cp:coreProperties>
</file>